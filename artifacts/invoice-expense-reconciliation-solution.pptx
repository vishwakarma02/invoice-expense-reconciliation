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40080"/>
            <a:ext cx="1965960" cy="310896"/>
          </a:xfrm>
          <a:prstGeom prst="roundRect">
            <a:avLst/>
          </a:prstGeom>
          <a:solidFill>
            <a:srgbClr val="26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653796"/>
            <a:ext cx="1874519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48D6C1"/>
                </a:solidFill>
                <a:latin typeface="Aptos"/>
              </a:defRPr>
            </a:pPr>
            <a:r>
              <a:t>CAPSTONE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667512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600" b="1">
                <a:solidFill>
                  <a:srgbClr val="F7F9FC"/>
                </a:solidFill>
                <a:latin typeface="Aptos"/>
              </a:defRPr>
            </a:pPr>
            <a:r>
              <a:t>Invoice &amp; Expense</a:t>
            </a:r>
            <a:br/>
            <a:r>
              <a:t>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27248"/>
            <a:ext cx="612648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0">
                <a:solidFill>
                  <a:srgbClr val="B7C4D8"/>
                </a:solidFill>
                <a:latin typeface="Aptos"/>
              </a:defRPr>
            </a:pPr>
            <a:r>
              <a:t>From mixed documents to defensible finance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078992"/>
            <a:ext cx="3886200" cy="4434840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139903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B7C4D8"/>
                </a:solidFill>
                <a:latin typeface="Aptos"/>
              </a:defRPr>
            </a:pPr>
            <a:r>
              <a:t>DOCUMENTS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1856231"/>
            <a:ext cx="3154680" cy="45720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2" y="193852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8A9FF"/>
                </a:solidFill>
                <a:latin typeface="Aptos"/>
              </a:defRPr>
            </a:pPr>
            <a:r>
              <a:t>PDF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2514600"/>
            <a:ext cx="3154680" cy="45720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596896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48D6C1"/>
                </a:solidFill>
                <a:latin typeface="Aptos"/>
              </a:defRPr>
            </a:pPr>
            <a:r>
              <a:t>PO + receipts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3172968"/>
            <a:ext cx="3154680" cy="45720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3255264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C857"/>
                </a:solidFill>
                <a:latin typeface="Aptos"/>
              </a:defRPr>
            </a:pPr>
            <a:r>
              <a:t>Bank + expenses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0" y="3931920"/>
            <a:ext cx="0" cy="384048"/>
          </a:xfrm>
          <a:prstGeom prst="line">
            <a:avLst/>
          </a:prstGeom>
          <a:ln w="34290">
            <a:solidFill>
              <a:srgbClr val="48D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36992" y="4462272"/>
            <a:ext cx="3154680" cy="704088"/>
          </a:xfrm>
          <a:prstGeom prst="round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617720"/>
            <a:ext cx="2788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424"/>
                </a:solidFill>
                <a:latin typeface="Aptos"/>
              </a:defRPr>
            </a:pPr>
            <a:r>
              <a:t>Evidence-backed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163056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DEMO: UPLOAD  |  INSPECT  |  REVIEW  | 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01 /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Finance teams reconcile evidence scattered across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The solution aims to reduce manual comparison while keeping decisions reviewable.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1"/>
            <a:ext cx="3502152" cy="1856231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56231"/>
            <a:ext cx="64008" cy="1856231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0824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8A9FF"/>
                </a:solidFill>
                <a:latin typeface="Aptos"/>
              </a:defRPr>
            </a:pPr>
            <a:r>
              <a:t>Fragmented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32887"/>
            <a:ext cx="3118104" cy="10607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Invoices arrive as PDFs and scans; purchase orders, receipts, and statements may be CSVs.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56231"/>
            <a:ext cx="3502152" cy="1856231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56231"/>
            <a:ext cx="64008" cy="1856231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20824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Exception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32887"/>
            <a:ext cx="3118104" cy="10607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Price, quantity, tax, duplicate, payment, and policy issues are easy to miss in manual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856231"/>
            <a:ext cx="3502152" cy="1856231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856231"/>
            <a:ext cx="64008" cy="1856231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20824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32887"/>
            <a:ext cx="3118104" cy="10607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A useful outcome needs traceable evidence, expected-versus-found values, and a recorded human disposition.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11055096" cy="1152144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315968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48D6C1"/>
                </a:solidFill>
                <a:latin typeface="Aptos"/>
              </a:defRPr>
            </a:pPr>
            <a:r>
              <a:t>DESIGN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242816"/>
            <a:ext cx="8732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900" b="1">
                <a:solidFill>
                  <a:srgbClr val="F7F9FC"/>
                </a:solidFill>
                <a:latin typeface="Aptos"/>
              </a:defRPr>
            </a:pPr>
            <a:r>
              <a:t>Automate document handling and repeatable checks; make exceptions easy to understand; keep approval authority with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02 /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A specialist-agent pipeline; deterministic checks stay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Matching and anomaly detection are separate analysis paths; the Explanation Agent consumes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78A9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PDF / image</a:t>
            </a:r>
            <a:br/>
            <a:r>
              <a:t>CSV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48D6C1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Route by type</a:t>
            </a:r>
            <a:br/>
            <a:r>
              <a:t>OCR /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C857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Validated records</a:t>
            </a:r>
            <a:br/>
            <a:r>
              <a:t>confidence +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7D79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Matching + anomaly</a:t>
            </a:r>
            <a:br/>
            <a:r>
              <a:t>independent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67344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48D6C1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Plain language</a:t>
            </a:r>
            <a:br/>
            <a:r>
              <a:t>amounts +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42448" y="2240280"/>
            <a:ext cx="1316736" cy="15727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2432304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73D69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33888" y="2926080"/>
            <a:ext cx="113385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7F9FC"/>
                </a:solidFill>
                <a:latin typeface="Aptos"/>
              </a:defRPr>
            </a:pPr>
            <a:r>
              <a:t>Human decision</a:t>
            </a:r>
            <a:br/>
            <a:r>
              <a:t>draft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38528" y="3017520"/>
            <a:ext cx="484632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13632" y="3017520"/>
            <a:ext cx="484632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8736" y="3017520"/>
            <a:ext cx="484632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3017520"/>
            <a:ext cx="484631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38944" y="3017520"/>
            <a:ext cx="484632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45152" y="4315968"/>
            <a:ext cx="3429000" cy="777240"/>
          </a:xfrm>
          <a:prstGeom prst="roundRect">
            <a:avLst/>
          </a:prstGeom>
          <a:solidFill>
            <a:srgbClr val="182943"/>
          </a:solidFill>
          <a:ln w="13970"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8032" y="4498848"/>
            <a:ext cx="3063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7F9FC"/>
                </a:solidFill>
                <a:latin typeface="Aptos"/>
              </a:defRPr>
            </a:pPr>
            <a:r>
              <a:t>MATCHING  +  ANOMALY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0" y="3794760"/>
            <a:ext cx="0" cy="484632"/>
          </a:xfrm>
          <a:prstGeom prst="line">
            <a:avLst/>
          </a:prstGeom>
          <a:ln w="22860">
            <a:solidFill>
              <a:srgbClr val="FF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468112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B7C4D8"/>
                </a:solidFill>
                <a:latin typeface="Aptos"/>
              </a:defRPr>
            </a:pPr>
            <a:r>
              <a:t>Outputs remain distinct by stage and are inspectable in the browser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03 / AGENT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Each agent has a clear job and a clear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Use language models where interpretation helps; use code where repeatability and auditability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609344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8A9FF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23744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PDF text layer, OCR for scans, CSV tables; source tagging.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47088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47088"/>
            <a:ext cx="64008" cy="160934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8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23744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Structured Pydantic records; missing fields, varied formats, field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1847088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1" y="1847088"/>
            <a:ext cx="64008" cy="1609344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23744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Deterministic PO / invoice / receipt / payment checks with tolerances.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49039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749039"/>
            <a:ext cx="64008" cy="1609344"/>
          </a:xfrm>
          <a:prstGeom prst="rect">
            <a:avLst/>
          </a:prstGeom>
          <a:solidFill>
            <a:srgbClr val="FF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913631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7D79"/>
                </a:solidFill>
                <a:latin typeface="Aptos"/>
              </a:defRPr>
            </a:pPr>
            <a:r>
              <a:t>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425696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Independent duplicate, vendor-history outlier, and policy-limit checks.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49039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749039"/>
            <a:ext cx="64008" cy="1609344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913631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425696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Consumes matching + anomaly results; policy retrieval; optional LLM wording.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1" y="3749039"/>
            <a:ext cx="3502152" cy="1609344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1" y="3749039"/>
            <a:ext cx="64008" cy="1609344"/>
          </a:xfrm>
          <a:prstGeom prst="rect">
            <a:avLst/>
          </a:prstGeom>
          <a:solidFill>
            <a:srgbClr val="73D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13631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3D69A"/>
                </a:solidFill>
                <a:latin typeface="Aptos"/>
              </a:defRPr>
            </a:pPr>
            <a:r>
              <a:t>HITL + Correspondence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25696"/>
            <a:ext cx="3118104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F7F9FC"/>
                </a:solidFill>
                <a:latin typeface="Aptos"/>
              </a:defRPr>
            </a:pPr>
            <a:r>
              <a:t>Routes cases, records decisions, prepares vendor drafts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04 / TWO INDEPENDENT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Matching and anomaly answer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Keep their findings separate; let the Explanation Agent combine the context for humans.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5257800" cy="233172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901952"/>
            <a:ext cx="64008" cy="233172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66544"/>
            <a:ext cx="4873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MATCHING: does the transaction agree?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873752" cy="1536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7F9FC"/>
                </a:solidFill>
                <a:latin typeface="Aptos"/>
              </a:defRPr>
            </a:pPr>
            <a:r>
              <a:t>Invoice vs purchase order</a:t>
            </a:r>
            <a:br/>
            <a:r>
              <a:t>Invoice vs receipt / service entry</a:t>
            </a:r>
            <a:br/>
            <a:r>
              <a:t>Bank debit vs invoice amount</a:t>
            </a:r>
            <a:br/>
            <a:br/>
            <a:r>
              <a:t>Example: expected unit price INR 9,912; found INR 10,512.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901952"/>
            <a:ext cx="5257800" cy="233172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901952"/>
            <a:ext cx="64008" cy="2331720"/>
          </a:xfrm>
          <a:prstGeom prst="rect">
            <a:avLst/>
          </a:prstGeom>
          <a:solidFill>
            <a:srgbClr val="FF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66544"/>
            <a:ext cx="4873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7D79"/>
                </a:solidFill>
                <a:latin typeface="Aptos"/>
              </a:defRPr>
            </a:pPr>
            <a:r>
              <a:t>ANOMALY: is this invoice unusual or risky?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78608"/>
            <a:ext cx="4873752" cy="1536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7F9FC"/>
                </a:solidFill>
                <a:latin typeface="Aptos"/>
              </a:defRPr>
            </a:pPr>
            <a:r>
              <a:t>Duplicate invoice identity / content</a:t>
            </a:r>
            <a:br/>
            <a:r>
              <a:t>Amount outlier vs vendor history</a:t>
            </a:r>
            <a:br/>
            <a:r>
              <a:t>Above configured policy limit</a:t>
            </a:r>
            <a:br/>
            <a:br/>
            <a:r>
              <a:t>Example: INR 110,448 exceeds a INR 100,000 policy threshold.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2" y="4361688"/>
            <a:ext cx="2304288" cy="713232"/>
          </a:xfrm>
          <a:prstGeom prst="line">
            <a:avLst/>
          </a:prstGeom>
          <a:ln w="25400">
            <a:solidFill>
              <a:srgbClr val="48D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11696" y="4361688"/>
            <a:ext cx="2212848" cy="713232"/>
          </a:xfrm>
          <a:prstGeom prst="line">
            <a:avLst/>
          </a:prstGeom>
          <a:ln w="25400">
            <a:solidFill>
              <a:srgbClr val="FF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61104" y="5056632"/>
            <a:ext cx="3273552" cy="621792"/>
          </a:xfrm>
          <a:prstGeom prst="round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212080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B1424"/>
                </a:solidFill>
                <a:latin typeface="Aptos"/>
              </a:defRPr>
            </a:pPr>
            <a:r>
              <a:t>EXPLANATION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07024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B7C4D8"/>
                </a:solidFill>
                <a:latin typeface="Aptos"/>
              </a:defRPr>
            </a:pPr>
            <a:r>
              <a:t>Independent findings can coexist; the case should preserve each source and avoid hiding duplicate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05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Ground the explanation; never let the model invent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The current demo uses deterministic local policy retrieval and optional Azure OpenAI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01952"/>
            <a:ext cx="3456432" cy="194767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64008" cy="1947672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66544"/>
            <a:ext cx="30723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8A9FF"/>
                </a:solidFill>
                <a:latin typeface="Aptos"/>
              </a:defRPr>
            </a:pPr>
            <a:r>
              <a:t>1 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78608"/>
            <a:ext cx="3072384" cy="11521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Verified issue text, expected / found amounts, currency, severity, evidence, and duplicate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56432" cy="194767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01952"/>
            <a:ext cx="64008" cy="194767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4"/>
            <a:ext cx="30723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2  Policy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78608"/>
            <a:ext cx="3072384" cy="11521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Keyword-ranked passages from local Markdown policy files; citations stay attached to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901952"/>
            <a:ext cx="3456432" cy="194767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901952"/>
            <a:ext cx="64008" cy="1947672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66544"/>
            <a:ext cx="30723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3  Wording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578608"/>
            <a:ext cx="3072384" cy="11521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Optional LLM generates a concise explanation and action. Deterministic wording is the fallback.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0791" y="2880360"/>
            <a:ext cx="265177" cy="0"/>
          </a:xfrm>
          <a:prstGeom prst="line">
            <a:avLst/>
          </a:prstGeom>
          <a:ln w="2032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032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4251960"/>
            <a:ext cx="11009376" cy="1051560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53128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48D6C1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79976"/>
            <a:ext cx="837590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7F9FC"/>
                </a:solidFill>
                <a:latin typeface="Aptos"/>
              </a:defRPr>
            </a:pPr>
            <a:r>
              <a:t>Amounts and evidence are sourced from deterministic results. The model shapes wording; it does not calculate or replace the verified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669280"/>
            <a:ext cx="105156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B7C4D8"/>
                </a:solidFill>
                <a:latin typeface="Aptos"/>
              </a:defRPr>
            </a:pPr>
            <a:r>
              <a:t>LLM explanations are disabled by default; enabling them sends issue context and retrieved policy passages to the configured Azure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06 /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One local UI for upload, stage inspection,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FastAPI serves the browser UI and endpoints; an operator uploads one scenario bundle per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578608" cy="260604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67712"/>
            <a:ext cx="603504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1428"/>
            <a:ext cx="5120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78A9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2194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78A9FF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2194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PDFs, scans, and CSVs. Files are stored under a run-specific folder.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9544" y="3337560"/>
            <a:ext cx="219456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2057400"/>
            <a:ext cx="2578608" cy="260604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9312" y="2267712"/>
            <a:ext cx="603504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2281428"/>
            <a:ext cx="5120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48D6C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770632"/>
            <a:ext cx="2194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48D6C1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310128"/>
            <a:ext cx="2194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Open ingestion, extraction, matching, anomaly, and explanation JSON tabs.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1616" y="3337560"/>
            <a:ext cx="219456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2057400"/>
            <a:ext cx="2578608" cy="260604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1384" y="2267712"/>
            <a:ext cx="603504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281428"/>
            <a:ext cx="5120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C85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70632"/>
            <a:ext cx="2194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FC8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310128"/>
            <a:ext cx="2194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See findings, evidence, confidence, amount at risk, and routing reasons.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3688" y="3337560"/>
            <a:ext cx="219456" cy="0"/>
          </a:xfrm>
          <a:prstGeom prst="line">
            <a:avLst/>
          </a:prstGeom>
          <a:ln w="1905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80576" y="2057400"/>
            <a:ext cx="2578608" cy="2606040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63456" y="2267712"/>
            <a:ext cx="603504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2281428"/>
            <a:ext cx="5120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73D69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770632"/>
            <a:ext cx="2194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73D69A"/>
                </a:solidFill>
                <a:latin typeface="Aptos"/>
              </a:defRPr>
            </a:pPr>
            <a:r>
              <a:t>Decide /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310128"/>
            <a:ext cx="21945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Record reviewer decision; prepare a vendor email draft for human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27608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B7C4D8"/>
                </a:solidFill>
                <a:latin typeface="Aptos"/>
              </a:defRPr>
            </a:pPr>
            <a:r>
              <a:t>Demo limits: 50 files / run; 25 MB per file; 100 MB total. Descriptive names help classify uploaded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07 / HUMAN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The system recommends and records; it does not authorize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High-risk or uncertain cases route to people. Communication remains draft-only.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5212080" cy="1892807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901952"/>
            <a:ext cx="64008" cy="1892807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66544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Human review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828032" cy="1097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7F9FC"/>
                </a:solidFill>
                <a:latin typeface="Aptos"/>
              </a:defRPr>
            </a:pPr>
            <a:r>
              <a:t>Matching exceptions, anomalies, low confidence, and amounts at/above the auto-clear limit enter the review queue. Decisions persist in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01952"/>
            <a:ext cx="5212080" cy="1892807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01952"/>
            <a:ext cx="64008" cy="1892807"/>
          </a:xfrm>
          <a:prstGeom prst="rect">
            <a:avLst/>
          </a:prstGeom>
          <a:solidFill>
            <a:srgbClr val="73D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66544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3D69A"/>
                </a:solidFill>
                <a:latin typeface="Aptos"/>
              </a:defRPr>
            </a:pPr>
            <a:r>
              <a:t>Explicit safety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78608"/>
            <a:ext cx="4828032" cy="1097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F7F9FC"/>
                </a:solidFill>
                <a:latin typeface="Aptos"/>
              </a:defRPr>
            </a:pPr>
            <a:r>
              <a:t>Approve / reject are review dispositions only. No payment release. Vendor correspondence is prepared as a draft; no email is 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233672"/>
            <a:ext cx="10899648" cy="941832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416552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48D6C1"/>
                </a:solidFill>
                <a:latin typeface="Aptos"/>
              </a:defRPr>
            </a:pPr>
            <a:r>
              <a:t>DEMO DEFAULTS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352544"/>
            <a:ext cx="81381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7F9FC"/>
                </a:solidFill>
                <a:latin typeface="Aptos"/>
              </a:defRPr>
            </a:pPr>
            <a:r>
              <a:t>Minimum extraction confidence: 0.90  |  Auto-clear amount ceiling: 50,000 (currency units)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44068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B7C4D8"/>
                </a:solidFill>
                <a:latin typeface="Aptos"/>
              </a:defRPr>
            </a:pPr>
            <a:r>
              <a:t>Production follow-up: authentication, role-based access, retention controls, approval policy ownership, and operational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08 / 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Four compact scenarios make the workflow easy to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The sample bundle is in artifacts/reconciliation-input-use-cases.zip; use one folder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83664"/>
            <a:ext cx="10680192" cy="71323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066544"/>
            <a:ext cx="640080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80260"/>
            <a:ext cx="54864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73D6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029968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73D69A"/>
                </a:solidFill>
                <a:latin typeface="Aptos"/>
              </a:defRPr>
            </a:pPr>
            <a:r>
              <a:t>Clean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029968"/>
            <a:ext cx="6766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Pass path through invoice / PO / receipt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10680192" cy="71323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2962656"/>
            <a:ext cx="640080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976372"/>
            <a:ext cx="54864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C8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926080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Tax 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926080"/>
            <a:ext cx="6766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Tax-type / rate issues become reviewable findings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75887"/>
            <a:ext cx="10680192" cy="71323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" y="3858768"/>
            <a:ext cx="640080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872483"/>
            <a:ext cx="54864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7D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3822191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7D79"/>
                </a:solidFill>
                <a:latin typeface="Aptos"/>
              </a:defRPr>
            </a:pPr>
            <a:r>
              <a:t>Duplicate invoice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3822191"/>
            <a:ext cx="6766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Matching and anomaly engines both surface duplicate signals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72000"/>
            <a:ext cx="10680192" cy="713232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" y="4754880"/>
            <a:ext cx="640080" cy="310896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768596"/>
            <a:ext cx="54864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48D6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2" y="47183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Policy +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4718304"/>
            <a:ext cx="6766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Price variance plus amount-above-limit 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104241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B7C4D8"/>
                </a:solidFill>
                <a:latin typeface="Aptos"/>
              </a:defRPr>
            </a:pPr>
            <a:r>
              <a:t>Run: start uvicorn, open localhost:8000, upload all files from one scenario, then inspect each stage tab.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48D6C1"/>
                </a:solidFill>
                <a:latin typeface="Aptos"/>
              </a:defRPr>
            </a:pPr>
            <a:r>
              <a:t>09 / WHAT IS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7F9FC"/>
                </a:solidFill>
                <a:latin typeface="Aptos"/>
              </a:defRPr>
            </a:pPr>
            <a:r>
              <a:t>A demonstrable end-to-end capstone; production hardening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B7C4D8"/>
                </a:solidFill>
                <a:latin typeface="Aptos"/>
              </a:defRPr>
            </a:pPr>
            <a:r>
              <a:t>A working vertical slice connects document processing to exception handling and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B7C4D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5230368" cy="20299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920240"/>
            <a:ext cx="64008" cy="2029968"/>
          </a:xfrm>
          <a:prstGeom prst="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2"/>
            <a:ext cx="4846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48D6C1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96896"/>
            <a:ext cx="48463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Upload UI + FastAPI</a:t>
            </a:r>
            <a:br/>
            <a:r>
              <a:t>Ingestion and extraction</a:t>
            </a:r>
            <a:br/>
            <a:r>
              <a:t>Deterministic matching + anomaly checks</a:t>
            </a:r>
            <a:br/>
            <a:r>
              <a:t>Grounded explanations + review queue</a:t>
            </a:r>
            <a:br/>
            <a:r>
              <a:t>Draft-only correspondence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920240"/>
            <a:ext cx="5230368" cy="2029968"/>
          </a:xfrm>
          <a:prstGeom prst="roundRect">
            <a:avLst/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920240"/>
            <a:ext cx="64008" cy="202996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2"/>
            <a:ext cx="4846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C857"/>
                </a:solidFill>
                <a:latin typeface="Aptos"/>
              </a:defRPr>
            </a:pPr>
            <a:r>
              <a:t>Next to mature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96896"/>
            <a:ext cx="48463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F7F9FC"/>
                </a:solidFill>
                <a:latin typeface="Aptos"/>
              </a:defRPr>
            </a:pPr>
            <a:r>
              <a:t>Stable report/run correlation</a:t>
            </a:r>
            <a:br/>
            <a:r>
              <a:t>Group duplicate signals without losing provenance</a:t>
            </a:r>
            <a:br/>
            <a:r>
              <a:t>Richer anomaly comparison evidence</a:t>
            </a:r>
            <a:br/>
            <a:r>
              <a:t>Access control, retention, deployment, monitoring</a:t>
            </a:r>
            <a:br/>
            <a:r>
              <a:t>Representative evaluation and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407408"/>
            <a:ext cx="10899648" cy="822960"/>
          </a:xfrm>
          <a:prstGeom prst="roundRect">
            <a:avLst/>
          </a:prstGeom>
          <a:solidFill>
            <a:srgbClr val="48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90288"/>
            <a:ext cx="103784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0B1424"/>
                </a:solidFill>
                <a:latin typeface="Aptos"/>
              </a:defRPr>
            </a:pPr>
            <a:r>
              <a:t>Core principle: automate repetitive checks, preserve evidence, and keep consequential decisions with people.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50992"/>
            <a:ext cx="106070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7C4D8"/>
                </a:solidFill>
                <a:latin typeface="Aptos"/>
              </a:defRPr>
            </a:pPr>
            <a:r>
              <a:t>Full OCR demo needs Tesseract; unstructured extraction needs configured OpenAI credentials.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and Expense Reconciliation Solution</dc:title>
  <dc:subject>Capstone solution presentation</dc:subject>
  <dc:creator>Invoice Expense Reconciliation Team</dc:creator>
  <cp:keywords>invoice reconciliation, matching, anomaly detection, HITL,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